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0556" y="609601"/>
            <a:ext cx="8673963" cy="3200400"/>
          </a:xfrm>
        </p:spPr>
        <p:txBody>
          <a:bodyPr anchor="b">
            <a:normAutofit/>
          </a:bodyPr>
          <a:lstStyle>
            <a:lvl1pPr algn="ctr">
              <a:defRPr sz="4799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0556" y="3886200"/>
            <a:ext cx="8673963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9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05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557" y="3308581"/>
            <a:ext cx="8684538" cy="1468800"/>
          </a:xfrm>
        </p:spPr>
        <p:txBody>
          <a:bodyPr anchor="b"/>
          <a:lstStyle>
            <a:lvl1pPr algn="r">
              <a:defRPr sz="3999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0555" y="4777381"/>
            <a:ext cx="8684539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98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115" y="2667000"/>
            <a:ext cx="4875530" cy="3124201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9005" y="2667000"/>
            <a:ext cx="4875530" cy="3124200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1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8908" y="2658533"/>
            <a:ext cx="4587736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115" y="3243263"/>
            <a:ext cx="4875530" cy="2547937"/>
          </a:xfrm>
        </p:spPr>
        <p:txBody>
          <a:bodyPr anchor="t"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1455" y="2667000"/>
            <a:ext cx="4603081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9006" y="3243263"/>
            <a:ext cx="4875531" cy="2547937"/>
          </a:xfrm>
        </p:spPr>
        <p:txBody>
          <a:bodyPr anchor="t"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69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19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23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1600200"/>
            <a:ext cx="3548197" cy="1371600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483" y="609601"/>
            <a:ext cx="5942053" cy="51816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4" y="2971800"/>
            <a:ext cx="3548197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54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1600200"/>
            <a:ext cx="5332612" cy="1371600"/>
          </a:xfrm>
        </p:spPr>
        <p:txBody>
          <a:bodyPr anchor="b">
            <a:normAutofit/>
          </a:bodyPr>
          <a:lstStyle>
            <a:lvl1pPr algn="l">
              <a:defRPr sz="27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1797" y="-18288"/>
            <a:ext cx="3275746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4" y="2971800"/>
            <a:ext cx="5332612" cy="1828800"/>
          </a:xfrm>
        </p:spPr>
        <p:txBody>
          <a:bodyPr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7545" y="5883276"/>
            <a:ext cx="91416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115" y="5883276"/>
            <a:ext cx="510407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39815" y="5883276"/>
            <a:ext cx="322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50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6" y="4732865"/>
            <a:ext cx="9903420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096" y="932112"/>
            <a:ext cx="8223802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6" y="5299603"/>
            <a:ext cx="990342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62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5" y="609602"/>
            <a:ext cx="9903419" cy="3124199"/>
          </a:xfrm>
        </p:spPr>
        <p:txBody>
          <a:bodyPr anchor="ctr">
            <a:normAutofit/>
          </a:bodyPr>
          <a:lstStyle>
            <a:lvl1pPr algn="l">
              <a:defRPr sz="3199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343400"/>
            <a:ext cx="990342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96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394" y="786824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5094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2"/>
            <a:ext cx="9293977" cy="2743199"/>
          </a:xfrm>
        </p:spPr>
        <p:txBody>
          <a:bodyPr anchor="ctr">
            <a:normAutofit/>
          </a:bodyPr>
          <a:lstStyle>
            <a:lvl1pPr algn="l">
              <a:defRPr sz="3199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343400"/>
            <a:ext cx="990342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87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5" y="3308581"/>
            <a:ext cx="9903420" cy="1468800"/>
          </a:xfrm>
        </p:spPr>
        <p:txBody>
          <a:bodyPr anchor="b">
            <a:normAutofit/>
          </a:bodyPr>
          <a:lstStyle>
            <a:lvl1pPr algn="l">
              <a:defRPr sz="3199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3" y="4777381"/>
            <a:ext cx="990342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53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394" y="786824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5094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2"/>
            <a:ext cx="9293977" cy="2743199"/>
          </a:xfrm>
        </p:spPr>
        <p:txBody>
          <a:bodyPr anchor="ctr">
            <a:normAutofit/>
          </a:bodyPr>
          <a:lstStyle>
            <a:lvl1pPr algn="l">
              <a:defRPr sz="3199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115" y="3886200"/>
            <a:ext cx="990342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775200"/>
            <a:ext cx="990342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78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5" y="609602"/>
            <a:ext cx="990341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115" y="3505200"/>
            <a:ext cx="990342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799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343400"/>
            <a:ext cx="990342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07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990341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61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4597" y="609600"/>
            <a:ext cx="220993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115" y="609600"/>
            <a:ext cx="7541835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53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990341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6" y="2667000"/>
            <a:ext cx="990341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5311" y="5883276"/>
            <a:ext cx="15997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115" y="5883276"/>
            <a:ext cx="7541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1275" y="5883276"/>
            <a:ext cx="551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84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3199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999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799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25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6C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</a:rPr>
              <a:t>Agentic UAV Mission Planning and Safety Compliance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</a:rPr>
              <a:t>Agentic UAV Mission Planning &amp; Safety Compliance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C90E"/>
                </a:solidFill>
              </a:rPr>
              <a:t>Abdul Azeem Hashmi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6C90E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</a:rPr>
              <a:t>Manual UAV flight planning is slow, error-prone, and relies on expert knowledge.
• Operators must verify airspace restrictions manually
• No-fly zone violations risk collisions and regulatory penalties
• Battery consumption is hard to predict without simulation
• Compliance documentation is absent from most planning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6C90E"/>
                </a:solidFill>
              </a:rPr>
              <a:t>Agentic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[&gt;]  1. Mission Understanding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533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    Parses natural language using Google Gemini LLM -&gt; structured JSON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[&gt;]  2. Waypoint Planner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30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    Generates geometric paths: Square, Grid, Circle Orbit, Perimeter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[&gt;]  3. Safety Compliance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7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    Enforces 7 rules: altitude, no-fly zones (line-segment checks), battery 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[&gt;]  4. Correction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850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    Normal-vector Shapely projection to nudge waypoints 15 m outside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[&gt;]  5. Report Generation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622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    Exports PDF reports, CSV logs, QGC .plan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6C90E"/>
                </a:solidFill>
              </a:rPr>
              <a:t>7 Safety Compliance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</a:rPr>
              <a:t>[R1]  Altitude &lt;= 80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515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Prevents airspace intrusion &amp; collision with manned aircraft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</a:rPr>
              <a:t>[R2]  Takeoff waypoint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70992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Ensures mission begins at defined origin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</a:rPr>
              <a:t>[R3]  Landing/RTL waypoint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368296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Guarantees safe terminal return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2666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</a:rPr>
              <a:t>[R4]  Geofence clearance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026663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Line-segment Shapely checks — no path crosses restricted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850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</a:rPr>
              <a:t>[R5]  Leg &lt;= 500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685031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Limits single segment distance for signal 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3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</a:rPr>
              <a:t>[R6]  Duration &lt;= 30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343399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Caps total operational flight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0176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</a:rPr>
              <a:t>[R7]  Battery &lt; 80%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001767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Physics model: climb 215W, cruise 120W, descent 115W, hover 130W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6C90E"/>
                </a:solidFill>
              </a:rPr>
              <a:t>Key Technical Innovations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[*]  Haversine + Metric 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19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latlon_to_meters() converts lat/lon to local Cartesian metres for accurate
Shapely geometry -- avoids degree-distortion at higher latitudes.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[*]  Normal-Vector Correction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Correction Agent projects violating waypoints to the zone boundary using
Shapely's .boundary.project() + normal vector -&gt; exact 15 m clearance.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39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[*]  Physics-Based Battery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79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Multi-stage energy: Climb (215W @ 4 m/s), Cruise (120W @ 10 m/s),
Descent (115W @ 2 m/s), Hover (130W) -- replaces heuristic estimate.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[*]  QGroundControl (.plan)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59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Exports standard JSON .plan files with MAVLink commands directly
importable into QGroundControl / PX4 autopilot.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6C90E"/>
                </a:solidFill>
              </a:rPr>
              <a:t>Live Demo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(1) Enter mission in natural language (e.g. 'Survey 500 m grid at 50 m altitude near 33.6N, 73.1E')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(2) Mission Understanding Agent parses intent -&gt; structured JSON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(3) Waypoint Planner generates flight path waypoints on interactive Folium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(4) Safety Compliance Agent checks all 7 rules with physics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(5) Correction Agent applies Shapely corrections if any rule fails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74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(6) Download PDF report, CSV log, and QGC .plan file with one click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Results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[OK]  All 7 safety rules enforced with physics-based validation</a:t>
            </a:r>
            <a:br/>
            <a:r>
              <a:t>[OK]  Shapely line-segment geofence checks (not just point checks)</a:t>
            </a:r>
            <a:br/>
            <a:r>
              <a:t>[OK]  Normal-vector boundary correction with exact 15 m clearance</a:t>
            </a:r>
            <a:br/>
            <a:r>
              <a:t>[OK]  Multi-stage battery model replaces linear heuristic</a:t>
            </a:r>
            <a:br/>
            <a:r>
              <a:t>[OK]  QGC .plan export for real controller compatibility</a:t>
            </a:r>
            <a:br/>
            <a:r>
              <a:t>[OK]  9 / 9 unit tests passing  -  Full documentation package</a:t>
            </a:r>
            <a:br/>
            <a:r>
              <a:t/>
            </a:r>
            <a:br/>
            <a:r>
              <a:t>Agentic UAV Mission Planning and Safety Compliance Assistant delivers a complete, safe, and deployable UAV mission planning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1B2A"/>
                </a:solidFill>
              </a:rPr>
              <a:t>github.com/AbdulAzeemHashmi/agentic-uav-mission-planner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A9E023"/>
      </a:accent1>
      <a:accent2>
        <a:srgbClr val="1FCDB6"/>
      </a:accent2>
      <a:accent3>
        <a:srgbClr val="5F99C9"/>
      </a:accent3>
      <a:accent4>
        <a:srgbClr val="AE65D1"/>
      </a:accent4>
      <a:accent5>
        <a:srgbClr val="D06423"/>
      </a:accent5>
      <a:accent6>
        <a:srgbClr val="DCAB11"/>
      </a:accent6>
      <a:hlink>
        <a:srgbClr val="ADE133"/>
      </a:hlink>
      <a:folHlink>
        <a:srgbClr val="C2EA6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1FEE2289-88FB-467C-9C9A-54F3C85768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5</TotalTime>
  <Words>589</Words>
  <Application>Microsoft Office PowerPoint</Application>
  <PresentationFormat>Custom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ABC</cp:lastModifiedBy>
  <cp:revision>3</cp:revision>
  <dcterms:created xsi:type="dcterms:W3CDTF">2013-01-27T09:14:16Z</dcterms:created>
  <dcterms:modified xsi:type="dcterms:W3CDTF">2026-07-08T11:19:56Z</dcterms:modified>
  <cp:category/>
</cp:coreProperties>
</file>