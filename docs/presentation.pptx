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0556" y="609601"/>
            <a:ext cx="8673963" cy="3200400"/>
          </a:xfrm>
        </p:spPr>
        <p:txBody>
          <a:bodyPr anchor="b">
            <a:normAutofit/>
          </a:bodyPr>
          <a:lstStyle>
            <a:lvl1pPr algn="ctr">
              <a:defRPr sz="4799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0556" y="3886200"/>
            <a:ext cx="8673963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099">
                <a:solidFill>
                  <a:schemeClr val="tx1"/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598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605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0557" y="3308581"/>
            <a:ext cx="8684538" cy="1468800"/>
          </a:xfrm>
        </p:spPr>
        <p:txBody>
          <a:bodyPr anchor="b"/>
          <a:lstStyle>
            <a:lvl1pPr algn="r">
              <a:defRPr sz="3999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0555" y="4777381"/>
            <a:ext cx="8684539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698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115" y="2667000"/>
            <a:ext cx="4875530" cy="3124201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9005" y="2667000"/>
            <a:ext cx="4875530" cy="3124200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413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8908" y="2658533"/>
            <a:ext cx="4587736" cy="576262"/>
          </a:xfrm>
        </p:spPr>
        <p:txBody>
          <a:bodyPr anchor="b">
            <a:noAutofit/>
          </a:bodyPr>
          <a:lstStyle>
            <a:lvl1pPr marL="0" indent="0">
              <a:buNone/>
              <a:defRPr sz="27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115" y="3243263"/>
            <a:ext cx="4875530" cy="2547937"/>
          </a:xfrm>
        </p:spPr>
        <p:txBody>
          <a:bodyPr anchor="t"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1455" y="2667000"/>
            <a:ext cx="4603081" cy="576262"/>
          </a:xfrm>
        </p:spPr>
        <p:txBody>
          <a:bodyPr anchor="b">
            <a:noAutofit/>
          </a:bodyPr>
          <a:lstStyle>
            <a:lvl1pPr marL="0" indent="0">
              <a:buNone/>
              <a:defRPr sz="27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9006" y="3243263"/>
            <a:ext cx="4875531" cy="2547937"/>
          </a:xfrm>
        </p:spPr>
        <p:txBody>
          <a:bodyPr anchor="t"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569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719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423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4" y="1600200"/>
            <a:ext cx="3548197" cy="1371600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2483" y="609601"/>
            <a:ext cx="5942053" cy="5181600"/>
          </a:xfrm>
        </p:spPr>
        <p:txBody>
          <a:bodyPr anchor="ctr">
            <a:normAutofit/>
          </a:bodyPr>
          <a:lstStyle>
            <a:lvl1pPr>
              <a:defRPr sz="1999"/>
            </a:lvl1pPr>
            <a:lvl2pPr>
              <a:defRPr sz="1799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114" y="2971800"/>
            <a:ext cx="3548197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954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4" y="1600200"/>
            <a:ext cx="5332612" cy="1371600"/>
          </a:xfrm>
        </p:spPr>
        <p:txBody>
          <a:bodyPr anchor="b">
            <a:normAutofit/>
          </a:bodyPr>
          <a:lstStyle>
            <a:lvl1pPr algn="l">
              <a:defRPr sz="2799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1797" y="-18288"/>
            <a:ext cx="3275746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114" y="2971800"/>
            <a:ext cx="5332612" cy="1828800"/>
          </a:xfrm>
        </p:spPr>
        <p:txBody>
          <a:bodyPr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7545" y="5883276"/>
            <a:ext cx="914162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115" y="5883276"/>
            <a:ext cx="510407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39815" y="5883276"/>
            <a:ext cx="322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350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6" y="4732865"/>
            <a:ext cx="9903420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096" y="932112"/>
            <a:ext cx="8223802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116" y="5299603"/>
            <a:ext cx="990342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662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5" y="609602"/>
            <a:ext cx="9903419" cy="3124199"/>
          </a:xfrm>
        </p:spPr>
        <p:txBody>
          <a:bodyPr anchor="ctr">
            <a:normAutofit/>
          </a:bodyPr>
          <a:lstStyle>
            <a:lvl1pPr algn="l">
              <a:defRPr sz="3199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4" y="4343400"/>
            <a:ext cx="990342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3968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394" y="786824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998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5094" y="2743200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5836" y="609602"/>
            <a:ext cx="9293977" cy="2743199"/>
          </a:xfrm>
        </p:spPr>
        <p:txBody>
          <a:bodyPr anchor="ctr">
            <a:normAutofit/>
          </a:bodyPr>
          <a:lstStyle>
            <a:lvl1pPr algn="l">
              <a:defRPr sz="3199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376" y="3352800"/>
            <a:ext cx="88369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4" y="4343400"/>
            <a:ext cx="990342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587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5" y="3308581"/>
            <a:ext cx="9903420" cy="1468800"/>
          </a:xfrm>
        </p:spPr>
        <p:txBody>
          <a:bodyPr anchor="b">
            <a:normAutofit/>
          </a:bodyPr>
          <a:lstStyle>
            <a:lvl1pPr algn="l">
              <a:defRPr sz="3199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3" y="4777381"/>
            <a:ext cx="990342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1531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394" y="786824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998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5094" y="2743200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5836" y="609602"/>
            <a:ext cx="9293977" cy="2743199"/>
          </a:xfrm>
        </p:spPr>
        <p:txBody>
          <a:bodyPr anchor="ctr">
            <a:normAutofit/>
          </a:bodyPr>
          <a:lstStyle>
            <a:lvl1pPr algn="l">
              <a:defRPr sz="3199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115" y="3886200"/>
            <a:ext cx="990342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399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4" y="4775200"/>
            <a:ext cx="990342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0786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5" y="609602"/>
            <a:ext cx="990341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115" y="3505200"/>
            <a:ext cx="990342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799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4" y="4343400"/>
            <a:ext cx="990342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107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116" y="609600"/>
            <a:ext cx="990341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0613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4597" y="609600"/>
            <a:ext cx="2209938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115" y="609600"/>
            <a:ext cx="7541835" cy="5181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053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116" y="609600"/>
            <a:ext cx="990341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6" y="2667000"/>
            <a:ext cx="990341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5311" y="5883276"/>
            <a:ext cx="15997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115" y="5883276"/>
            <a:ext cx="75418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1275" y="5883276"/>
            <a:ext cx="5510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384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063" rtl="0" eaLnBrk="1" latinLnBrk="0" hangingPunct="1">
        <a:spcBef>
          <a:spcPct val="0"/>
        </a:spcBef>
        <a:buNone/>
        <a:defRPr sz="3199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664" indent="-285664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999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727" indent="-285664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799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199790" indent="-285664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2587" indent="-171399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1999650" indent="-171399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3846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0908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7971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5034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6C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SkyGuard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2E8F0"/>
                </a:solidFill>
              </a:rPr>
              <a:t>Agentic UAV Mission Planning &amp; Safety Compliance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6C90E"/>
                </a:solidFill>
              </a:rPr>
              <a:t>Abdul Azeem Hashmi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6C90E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2E8F0"/>
                </a:solidFill>
              </a:rPr>
              <a:t>Manual UAV flight planning is slow, error-prone, and relies on expert knowledge.
• Operators must verify airspace restrictions manually
• No-fly zone violations risk collisions and regulatory penalties
• Battery consumption is hard to predict without simulation
• Compliance documentation is absent from most planning tools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6C90E"/>
                </a:solidFill>
              </a:rPr>
              <a:t>Agentic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[&gt;]  1. Mission Understanding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533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    Parses natural language using Google Gemini LLM -&gt; structured JSON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[&gt;]  2. Waypoint Planner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305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    Generates geometric paths: Square, Grid, Circle Orbit, Perimeter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[&gt;]  3. Safety Compliance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07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    Enforces 7 rules: altitude, no-fly zones (line-segment checks), battery physics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[&gt;]  4. Correction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8503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    Normal-vector Shapely projection to nudge waypoints 15 m outside zones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60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[&gt;]  5. Report Generation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4622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    Exports PDF reports, CSV logs, QGC .plan 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6C90E"/>
                </a:solidFill>
              </a:rPr>
              <a:t>7 Safety Compliance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[R1]  Altitude &lt;= 80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1051560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Prevents airspace intrusion &amp; collision with manned aircraft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099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[R2]  Takeoff waypoint present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70992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Ensures mission begins at defined origin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[R3]  Landing/RTL waypoint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2368296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Guarantees safe terminal return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26663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[R4]  Geofence clearance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026663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Line-segment Shapely checks — no path crosses restricted zones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85031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[R5]  Leg &lt;= 500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3685031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Limits single segment distance for signal reliability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34339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[R6]  Duration &lt;= 30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4343399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Caps total operational flight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01767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[R7]  Battery &lt; 80% 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5001767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Physics model: climb 215W, cruise 120W, descent 115W, hover 130W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6C90E"/>
                </a:solidFill>
              </a:rPr>
              <a:t>Key Technical Innovations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[*]  Haversine + Metric Projection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19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latlon_to_meters() converts lat/lon to local Cartesian metres for accurate
Shapely geometry -- avoids degree-distortion at higher latitudes.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[*]  Normal-Vector Correction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Correction Agent projects violating waypoints to the zone boundary using
Shapely's .boundary.project() + normal vector -&gt; exact 15 m clearance.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39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[*]  Physics-Based Battery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79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Multi-stage energy: Climb (215W @ 4 m/s), Cruise (120W @ 10 m/s),
Descent (115W @ 2 m/s), Hover (130W) -- replaces heuristic estimate.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[*]  QGroundControl (.plan) 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59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Exports standard JSON .plan files with MAVLink commands directly
importable into QGroundControl / PX4 autopilot.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6C90E"/>
                </a:solidFill>
              </a:rPr>
              <a:t>Live Demo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(1) Enter mission in natural language (e.g. 'Survey 500 m grid at 50 m altitude near 33.6N, 73.1E')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(2) Mission Understanding Agent parses intent -&gt; structured JSON 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(3) Waypoint Planner generates flight path waypoints on interactive Folium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(4) Safety Compliance Agent checks all 7 rules with physics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(5) Correction Agent applies Shapely corrections if any rule fails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749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(6) Download PDF report, CSV log, and QGC .plan file with one click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Results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E2E8F0"/>
                </a:solidFill>
              </a:rPr>
              <a:t>[OK]  All 7 safety rules enforced with physics-based validation
[OK]  Shapely line-segment </a:t>
            </a:r>
            <a:r>
              <a:rPr sz="1700" b="0" dirty="0" err="1">
                <a:solidFill>
                  <a:srgbClr val="E2E8F0"/>
                </a:solidFill>
              </a:rPr>
              <a:t>geofence</a:t>
            </a:r>
            <a:r>
              <a:rPr sz="1700" b="0">
                <a:solidFill>
                  <a:srgbClr val="E2E8F0"/>
                </a:solidFill>
              </a:rPr>
              <a:t> checks (not just point checks)
[OK]  Normal-vector boundary correction with exact 15 m clearance
[OK]  Multi-stage battery model replaces linear heuristic
[OK]  QGC .plan export for real controller compatibility
[OK]  9 / 9 unit tests passing  -  Full documentation package
</a:t>
            </a:r>
            <a:r>
              <a:rPr sz="1700" b="0" dirty="0" err="1">
                <a:solidFill>
                  <a:srgbClr val="E2E8F0"/>
                </a:solidFill>
              </a:rPr>
              <a:t>SkyGuard</a:t>
            </a:r>
            <a:r>
              <a:rPr sz="1700" b="0" dirty="0">
                <a:solidFill>
                  <a:srgbClr val="E2E8F0"/>
                </a:solidFill>
              </a:rPr>
              <a:t> AI delivers a complete, safe, and deployable UAV mission planning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1B2A"/>
                </a:solidFill>
              </a:rPr>
              <a:t>github.com/AbdulAzeemHashmi/agentic-uav-mission-planner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A9E023"/>
      </a:accent1>
      <a:accent2>
        <a:srgbClr val="1FCDB6"/>
      </a:accent2>
      <a:accent3>
        <a:srgbClr val="5F99C9"/>
      </a:accent3>
      <a:accent4>
        <a:srgbClr val="AE65D1"/>
      </a:accent4>
      <a:accent5>
        <a:srgbClr val="D06423"/>
      </a:accent5>
      <a:accent6>
        <a:srgbClr val="DCAB11"/>
      </a:accent6>
      <a:hlink>
        <a:srgbClr val="ADE133"/>
      </a:hlink>
      <a:folHlink>
        <a:srgbClr val="C2EA66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1FEE2289-88FB-467C-9C9A-54F3C85768F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5</TotalTime>
  <Words>577</Words>
  <Application>Microsoft Office PowerPoint</Application>
  <PresentationFormat>Custom</PresentationFormat>
  <Paragraphs>50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Century Gothic</vt:lpstr>
      <vt:lpstr>Mesh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ABC</cp:lastModifiedBy>
  <cp:revision>2</cp:revision>
  <dcterms:created xsi:type="dcterms:W3CDTF">2013-01-27T09:14:16Z</dcterms:created>
  <dcterms:modified xsi:type="dcterms:W3CDTF">2026-07-08T06:22:48Z</dcterms:modified>
  <cp:category/>
</cp:coreProperties>
</file>